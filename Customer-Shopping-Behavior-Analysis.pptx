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Open Sans Bold"/>
      <p:regular r:id="rId201314"/>
    </p:embeddedFont>
    <p:embeddedFont>
      <p:font typeface="Open Sans"/>
      <p:regular r:id="rId201315"/>
    </p:embeddedFont>
    <p:embeddedFont>
      <p:font typeface="Unbounded"/>
      <p:regular r:id="rId201316"/>
    </p:embeddedFont>
    <p:embeddedFont>
      <p:font typeface="Unbounded Bold"/>
      <p:regular r:id="rId201317"/>
    </p:embeddedFont>
    <p:embeddedFont>
      <p:font typeface="Unbounded Black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Transactional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3,900 purchases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product categories — uncovering spending patterns, segments, and strategic opportunities.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0246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428899"/>
            <a:ext cx="22727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496119" y="2073846"/>
            <a:ext cx="22727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46053" y="1428899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4"/>
          <p:cNvSpPr/>
          <p:nvPr/>
        </p:nvSpPr>
        <p:spPr>
          <a:xfrm>
            <a:off x="2946053" y="2073846"/>
            <a:ext cx="2272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Features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21048" y="2649662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37</a:t>
            </a:r>
            <a:endParaRPr lang="en-US" sz="3650" dirty="0"/>
          </a:p>
        </p:txBody>
      </p:sp>
      <p:sp>
        <p:nvSpPr>
          <p:cNvPr id="9" name="Text 6"/>
          <p:cNvSpPr/>
          <p:nvPr/>
        </p:nvSpPr>
        <p:spPr>
          <a:xfrm>
            <a:off x="1721048" y="3294608"/>
            <a:ext cx="2272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721048" y="3601120"/>
            <a:ext cx="22728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Rating column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6119" y="398740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 · Purchase details · Shopping behavior · Subscription status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883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Preparation in Python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971476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96581"/>
            <a:ext cx="2313388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Load to PostgreSQL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989577"/>
            <a:ext cx="2100810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Engineer Features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190724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Clean Data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38371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Load &amp; Explore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571181"/>
            <a:ext cx="86089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Snake_case standardization, redundant column removal, and database integration completed the pipeline.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than female customers across 3,900 transactions.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3902943" cy="552748"/>
          </a:xfrm>
          <a:prstGeom prst="roundRect">
            <a:avLst>
              <a:gd name="adj" fmla="val 10772"/>
            </a:avLst>
          </a:prstGeom>
          <a:solidFill>
            <a:srgbClr val="D6F5E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73251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16398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Male: $157,890 · Female: $75,191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8767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Discount &amp; Shipping Insights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886248"/>
            <a:ext cx="2290465" cy="1501453"/>
          </a:xfrm>
          <a:prstGeom prst="roundRect">
            <a:avLst>
              <a:gd name="adj" fmla="val 3966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2032769"/>
            <a:ext cx="19974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839 High-Spend Discount Users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560737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discounts but still spent above average purchase amount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886248"/>
            <a:ext cx="2290539" cy="1501453"/>
          </a:xfrm>
          <a:prstGeom prst="roundRect">
            <a:avLst>
              <a:gd name="adj" fmla="val 3966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863" y="2032769"/>
            <a:ext cx="199749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Express vs. Standard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560737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 avg: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Standard avg: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$58.46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529459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1640" y="3675980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Most Discount-Dependent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982492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 (50%), Sneakers (49.7%), Coat (49.1%)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Top-Rated Products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Top 5 by Average Review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average review rating: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3.75 / 5.0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Gloves lead at 3.86 — strong candidates for featured campaigns.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Segment Breakdown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Loyal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customers dominate at 3,116 — 80% of the base.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83 new customers; opportunity to grow acquisition.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580977"/>
            <a:ext cx="3902943" cy="552748"/>
          </a:xfrm>
          <a:prstGeom prst="roundRect">
            <a:avLst>
              <a:gd name="adj" fmla="val 10772"/>
            </a:avLst>
          </a:prstGeom>
          <a:solidFill>
            <a:srgbClr val="D6F5E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800796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743944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958 repeat buyers (&gt;5 purchases) are subscribed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916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Subscribers vs. Non-Subscribers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1617836" y="2227064"/>
            <a:ext cx="1743670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27%</a:t>
            </a:r>
            <a:endParaRPr lang="en-US" sz="2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518" y="1341090"/>
            <a:ext cx="2126456" cy="2126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644726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Subscribed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95123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1,053 customers · $62,645 revenue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82270" y="2227064"/>
            <a:ext cx="1743670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73%</a:t>
            </a:r>
            <a:endParaRPr lang="en-US" sz="2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952" y="1341090"/>
            <a:ext cx="2126456" cy="2126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0553" y="3644726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Non-Subscribed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60553" y="3951238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2,847 customers · $170,436 revenue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96119" y="433752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spend nearly identical: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$59.49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(subscribers) vs.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$59.87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(non-subscribers). Subscription conversion is the growth lever.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Age Group Performance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Adults lead revenue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$62,143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Revenue is relatively evenly distributed — all groups are valuable targets.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316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531739"/>
            <a:ext cx="283518" cy="2835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6" y="1580406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385816" y="1886917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397249"/>
            <a:ext cx="283518" cy="2835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445916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85816" y="2752427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→ Loyal segment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262759"/>
            <a:ext cx="283518" cy="2835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5816" y="3311426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85816" y="3617937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lift with margin control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4128269"/>
            <a:ext cx="283518" cy="28351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85816" y="4176936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385816" y="4483447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2026-08-18T17:34:14Z</dcterms:created>
  <dcterms:modified xsi:type="dcterms:W3CDTF">2026-08-18T17:34:14Z</dcterms:modified>
</cp:coreProperties>
</file>